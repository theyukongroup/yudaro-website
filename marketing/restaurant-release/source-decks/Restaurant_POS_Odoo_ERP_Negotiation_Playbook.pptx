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warm_lit_cartoon_3d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66928"/>
            <a:ext cx="2057400" cy="274320"/>
          </a:xfrm>
          <a:prstGeom prst="rect">
            <a:avLst/>
          </a:prstGeom>
          <a:solidFill>
            <a:srgbClr val="F9B233"/>
          </a:solidFill>
          <a:ln>
            <a:solidFill>
              <a:srgbClr val="F9B233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SALES ENGINEER PLAYBOOK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94360" y="96012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Restaurant POS +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Odoo ERP Negotiation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24871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4FF"/>
                </a:solidFill>
              </a:rPr>
              <a:t>A presentation that starts with the owner’s pain, not with software.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1792" y="5742432"/>
            <a:ext cx="5074920" cy="411480"/>
          </a:xfrm>
          <a:prstGeom prst="rect">
            <a:avLst/>
          </a:prstGeom>
          <a:solidFill>
            <a:srgbClr val="FFFFFF">
              <a:alpha val="94000"/>
            </a:srgbClr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</a:rPr>
              <a:t>Goal: $899 POS + tax and $7,500 restaurant Odoo ERP implementation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olorful_cinematic_vector_illustration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uncomfortable truth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The owner has heard POS sales talk before. You need to sound like operations help.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4630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</a:rPr>
              <a:t>Do not sell a terminal.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</a:rPr>
              <a:t>Diagnose business leakage.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21792" y="2788920"/>
            <a:ext cx="470916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31F20"/>
                </a:solidFill>
              </a:rPr>
              <a:t>The strongest negotiation position is created when the owner explains the cost of today’s broken process in their own words.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792" y="4069080"/>
            <a:ext cx="4389120" cy="502920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job: turn “software purchase” into “restaurant control system.”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restaurant owner is really thinking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Speak to their daily reality: staff, waste, mistakes, cash, time, and trust.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pic>
        <p:nvPicPr>
          <p:cNvPr id="5" name="Image 0" descr="/mnt/data/a_wide_colorful_cinematic_vector_illustration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84632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23560" y="1234440"/>
            <a:ext cx="2788920" cy="502920"/>
          </a:xfrm>
          <a:prstGeom prst="rect">
            <a:avLst/>
          </a:prstGeom>
          <a:solidFill>
            <a:srgbClr val="FFF3F3"/>
          </a:solidFill>
          <a:ln>
            <a:solidFill>
              <a:srgbClr val="F6B9B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84E4E"/>
                </a:solidFill>
              </a:rPr>
              <a:t>“I don’t need another system.”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41080" y="1234440"/>
            <a:ext cx="2788920" cy="502920"/>
          </a:xfrm>
          <a:prstGeom prst="rect">
            <a:avLst/>
          </a:prstGeom>
          <a:solidFill>
            <a:srgbClr val="F7F4FF"/>
          </a:solidFill>
          <a:ln>
            <a:solidFill>
              <a:srgbClr val="D8D0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B3BE5"/>
                </a:solidFill>
              </a:rPr>
              <a:t>Translation: “I don’t want another headache.”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0" y="2057400"/>
            <a:ext cx="5029200" cy="438912"/>
          </a:xfrm>
          <a:prstGeom prst="rect">
            <a:avLst/>
          </a:prstGeom>
          <a:solidFill>
            <a:srgbClr val="FFF9E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Can I trust my manager’s numbers?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15000" y="2715768"/>
            <a:ext cx="50292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Where is food cost leaking?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15000" y="3374136"/>
            <a:ext cx="5029200" cy="438912"/>
          </a:xfrm>
          <a:prstGeom prst="rect">
            <a:avLst/>
          </a:prstGeom>
          <a:solidFill>
            <a:srgbClr val="FFF9E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Why does inventory not match sales?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15000" y="4032504"/>
            <a:ext cx="50292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How do I stop manual reconciliation?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15000" y="4690872"/>
            <a:ext cx="5029200" cy="438912"/>
          </a:xfrm>
          <a:prstGeom prst="rect">
            <a:avLst/>
          </a:prstGeom>
          <a:solidFill>
            <a:srgbClr val="FFF9E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Can I see the restaurant from home?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six-stage negotiation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Move from curiosity → pain → value → commitment → implementation.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94360" cy="594360"/>
          </a:xfrm>
          <a:prstGeom prst="rect">
            <a:avLst/>
          </a:prstGeom>
          <a:solidFill>
            <a:srgbClr val="E84E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2E"/>
                </a:solidFill>
              </a:rPr>
              <a:t>Diagnose pain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2514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Ask before showing.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1417320"/>
            <a:ext cx="594360" cy="594360"/>
          </a:xfrm>
          <a:prstGeom prst="rect">
            <a:avLst/>
          </a:prstGeom>
          <a:solidFill>
            <a:srgbClr val="E84E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2E"/>
                </a:solidFill>
              </a:rPr>
              <a:t>Quantify cost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947672"/>
            <a:ext cx="2514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Let owner build the ROI.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83880" y="1417320"/>
            <a:ext cx="594360" cy="594360"/>
          </a:xfrm>
          <a:prstGeom prst="rect">
            <a:avLst/>
          </a:prstGeom>
          <a:solidFill>
            <a:srgbClr val="F9B2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6112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2E"/>
                </a:solidFill>
              </a:rPr>
              <a:t>Demo only what matters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0" y="1947672"/>
            <a:ext cx="2514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Never demo irrelevant screens.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594360" cy="594360"/>
          </a:xfrm>
          <a:prstGeom prst="rect">
            <a:avLst/>
          </a:prstGeom>
          <a:solidFill>
            <a:srgbClr val="F9B2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2E"/>
                </a:solidFill>
              </a:rPr>
              <a:t>Anchor against loss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142232"/>
            <a:ext cx="2514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Compare to current leakage.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3611880"/>
            <a:ext cx="594360" cy="594360"/>
          </a:xfrm>
          <a:prstGeom prst="rect">
            <a:avLst/>
          </a:prstGeom>
          <a:solidFill>
            <a:srgbClr val="2FB3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2E"/>
                </a:solidFill>
              </a:rPr>
              <a:t>Gain small commitments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12080" y="4142232"/>
            <a:ext cx="2514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Owner agrees to priorities.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3611880"/>
            <a:ext cx="594360" cy="594360"/>
          </a:xfrm>
          <a:prstGeom prst="rect">
            <a:avLst/>
          </a:prstGeom>
          <a:solidFill>
            <a:srgbClr val="2FB3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6112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2E"/>
                </a:solidFill>
              </a:rPr>
              <a:t>Close implementation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61120" y="4142232"/>
            <a:ext cx="25146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Decide start date &amp; contact.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Preparation: build the business case before the pitch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Know what to observe before talking about price.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234440"/>
            <a:ext cx="4617720" cy="256032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Restaurant Loss Worksheet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0" y="1490472"/>
            <a:ext cx="461772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BE5"/>
                </a:solidFill>
              </a:rPr>
              <a:t>$52,300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04888" y="2075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This week sales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7178040" y="3154680"/>
            <a:ext cx="201168" cy="274320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62088" y="2990088"/>
            <a:ext cx="201168" cy="438912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46136" y="2825496"/>
            <a:ext cx="201168" cy="603504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2660904"/>
            <a:ext cx="201168" cy="768096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4232" y="2496312"/>
            <a:ext cx="201168" cy="932688"/>
          </a:xfrm>
          <a:prstGeom prst="rect">
            <a:avLst/>
          </a:prstGeom>
          <a:solidFill>
            <a:srgbClr val="2FB3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8280" y="2331720"/>
            <a:ext cx="201168" cy="1097280"/>
          </a:xfrm>
          <a:prstGeom prst="rect">
            <a:avLst/>
          </a:prstGeom>
          <a:solidFill>
            <a:srgbClr val="2FB3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5695" y="1783080"/>
            <a:ext cx="1292962" cy="1737360"/>
          </a:xfrm>
          <a:prstGeom prst="rect">
            <a:avLst/>
          </a:prstGeom>
          <a:solidFill>
            <a:srgbClr val="F7F4FF"/>
          </a:solidFill>
          <a:ln>
            <a:solidFill>
              <a:srgbClr val="E5D9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Food cost 28%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Labor 22%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Discounts $318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Voids $74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086600" y="4937760"/>
            <a:ext cx="4160520" cy="320040"/>
          </a:xfrm>
          <a:prstGeom prst="rect">
            <a:avLst/>
          </a:prstGeom>
          <a:solidFill>
            <a:srgbClr val="FFF9EF"/>
          </a:solidFill>
          <a:ln>
            <a:solidFill>
              <a:srgbClr val="FFD88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31F20"/>
                </a:solidFill>
              </a:rPr>
              <a:t>Owner view: sales, labor, inventory, purchasing, finance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58368" y="1417320"/>
            <a:ext cx="2560320" cy="420624"/>
          </a:xfrm>
          <a:prstGeom prst="rect">
            <a:avLst/>
          </a:prstGeom>
          <a:solidFill>
            <a:srgbClr val="F7F4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Daily order volume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38728" y="1417320"/>
            <a:ext cx="256032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Current POS / delivery apps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2130552"/>
            <a:ext cx="2560320" cy="420624"/>
          </a:xfrm>
          <a:prstGeom prst="rect">
            <a:avLst/>
          </a:prstGeom>
          <a:solidFill>
            <a:srgbClr val="F7F4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Inventory method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38728" y="2130552"/>
            <a:ext cx="256032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Accounting workflow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2843784"/>
            <a:ext cx="2560320" cy="420624"/>
          </a:xfrm>
          <a:prstGeom prst="rect">
            <a:avLst/>
          </a:prstGeom>
          <a:solidFill>
            <a:srgbClr val="F7F4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Labor scheduling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38728" y="2843784"/>
            <a:ext cx="256032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Manager access control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3557016"/>
            <a:ext cx="2560320" cy="420624"/>
          </a:xfrm>
          <a:prstGeom prst="rect">
            <a:avLst/>
          </a:prstGeom>
          <a:solidFill>
            <a:srgbClr val="F7F4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Voids, comps, discounts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38728" y="3557016"/>
            <a:ext cx="2560320" cy="420624"/>
          </a:xfrm>
          <a:prstGeom prst="rect">
            <a:avLst/>
          </a:prstGeom>
          <a:solidFill>
            <a:srgbClr val="FFFF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</a:rPr>
              <a:t>Owner remote visibility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937760"/>
            <a:ext cx="5349240" cy="502920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Arrive with hypotheses. Leave with the owner’s numbers.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Opening script: disarm the sales reflex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The first two minutes must prove you are not rushing to sell.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pic>
        <p:nvPicPr>
          <p:cNvPr id="5" name="Image 0" descr="/mnt/data/wide_cinematic_warm_lit_cartoon_3d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124712"/>
            <a:ext cx="5074920" cy="5193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417320"/>
            <a:ext cx="539496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E1B2E"/>
                </a:solidFill>
              </a:rPr>
              <a:t>“Before I show you anything, I want to understand how your restaurant actually operates. If our system does not solve enough problems to justify the investment, I will tell you.”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</a:rPr>
              <a:t>Then ask and wait: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502152"/>
            <a:ext cx="51206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31F20"/>
                </a:solidFill>
              </a:rPr>
              <a:t>What is the biggest operational headache right now?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777240" y="3931920"/>
            <a:ext cx="51206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31F20"/>
                </a:solidFill>
              </a:rPr>
              <a:t>How are you handling it today?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777240" y="4361688"/>
            <a:ext cx="51206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31F20"/>
                </a:solidFill>
              </a:rPr>
              <a:t>How much time does it take each week?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777240" y="4791456"/>
            <a:ext cx="51206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31F20"/>
                </a:solidFill>
              </a:rPr>
              <a:t>What happens when somebody makes a mistake?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777240" y="5221224"/>
            <a:ext cx="512064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31F20"/>
                </a:solidFill>
              </a:rPr>
              <a:t>What do you think this costs every month?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silence: let the owner hear their own answer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Silence works after pain questions, price statements, and closing questions.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937760" cy="4389120"/>
          </a:xfrm>
          <a:prstGeom prst="rect">
            <a:avLst/>
          </a:prstGeom>
          <a:solidFill>
            <a:srgbClr val="F7F4FF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BE5"/>
                </a:solidFill>
              </a:rPr>
              <a:t>Ask: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4884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1B2E"/>
                </a:solidFill>
              </a:rPr>
              <a:t>“Roughly what do you think that problem costs you every month?”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246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84E4E"/>
                </a:solidFill>
              </a:rPr>
              <a:t>Then stop talking.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4005072"/>
            <a:ext cx="4114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Do not rescue the owner from the pause. The pause is where the financial pain becomes real.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1600200"/>
            <a:ext cx="2743200" cy="2743200"/>
          </a:xfrm>
          <a:prstGeom prst="arc">
            <a:avLst/>
          </a:prstGeom>
          <a:noFill/>
          <a:ln w="12700">
            <a:solidFill>
              <a:srgbClr val="6B3BE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60920" y="21031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3BE5"/>
                </a:solidFill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178040" y="27706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B7280"/>
                </a:solidFill>
              </a:rPr>
              <a:t>seconds of silence after a serious question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583680" y="4800600"/>
            <a:ext cx="4206240" cy="594360"/>
          </a:xfrm>
          <a:prstGeom prst="rect">
            <a:avLst/>
          </a:prstGeom>
          <a:solidFill>
            <a:srgbClr val="1E1B2E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Calm silence says: “I am not desperate. I am thinking with you.”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vague pain into measurable leakage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The owner’s own numbers make the investment feel logical.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</a:rPr>
              <a:t>Potential monthly leakage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017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Order mistakes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60520" y="1783080"/>
            <a:ext cx="1097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B3BE5"/>
                </a:solidFill>
              </a:rPr>
              <a:t>$400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017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Food waste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2286000"/>
            <a:ext cx="1097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B3BE5"/>
                </a:solidFill>
              </a:rPr>
              <a:t>$600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3017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Inventory mismatch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2788920"/>
            <a:ext cx="1097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B3BE5"/>
                </a:solidFill>
              </a:rPr>
              <a:t>$750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3017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Overtime / time theft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3291840"/>
            <a:ext cx="1097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B3BE5"/>
                </a:solidFill>
              </a:rPr>
              <a:t>$500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3017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Manual admin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3794760"/>
            <a:ext cx="1097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B3BE5"/>
                </a:solidFill>
              </a:rPr>
              <a:t>$800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3017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</a:rPr>
              <a:t>Delivery reconciliation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4297680"/>
            <a:ext cx="1097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EEA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B3BE5"/>
                </a:solidFill>
              </a:rPr>
              <a:t>$400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983480"/>
            <a:ext cx="4343400" cy="594360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$3,450 / month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5650992"/>
            <a:ext cx="4343400" cy="411480"/>
          </a:xfrm>
          <a:prstGeom prst="rect">
            <a:avLst/>
          </a:prstGeom>
          <a:solidFill>
            <a:srgbClr val="FFF1D1"/>
          </a:solidFill>
          <a:ln>
            <a:solidFill>
              <a:srgbClr val="FFD88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</a:rPr>
              <a:t>$41,400 / year</a:t>
            </a:r>
            <a:endParaRPr lang="en-US" sz="1600" dirty="0"/>
          </a:p>
        </p:txBody>
      </p:sp>
      <p:pic>
        <p:nvPicPr>
          <p:cNvPr id="20" name="Image 0" descr="/mnt/data/a_cozy_warm_cinematic_3d_cgi_pixar_style_anim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80160"/>
            <a:ext cx="5120640" cy="4983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11112" y="5559552"/>
            <a:ext cx="4709160" cy="594360"/>
          </a:xfrm>
          <a:prstGeom prst="rect">
            <a:avLst/>
          </a:prstGeom>
          <a:solidFill>
            <a:srgbClr val="1E1B2E">
              <a:alpha val="96000"/>
            </a:srgbClr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comparison is not $7,500 vs. nothing.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It is $7,500 vs. the cost of staying blind.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a restaurant story, not random software screens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Show the owner what happens from order to business control.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pic>
        <p:nvPicPr>
          <p:cNvPr id="5" name="Image 0" descr="/mnt/data/a_wide_colorful_vector_cartoon_illustration_of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1129284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532120"/>
            <a:ext cx="1143000" cy="274320"/>
          </a:xfrm>
          <a:prstGeom prst="rect">
            <a:avLst/>
          </a:prstGeom>
          <a:solidFill>
            <a:srgbClr val="6B3BE5"/>
          </a:solidFill>
          <a:ln>
            <a:solidFill>
              <a:srgbClr val="6B3B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Order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331720" y="5532120"/>
            <a:ext cx="1143000" cy="274320"/>
          </a:xfrm>
          <a:prstGeom prst="rect">
            <a:avLst/>
          </a:prstGeom>
          <a:solidFill>
            <a:srgbClr val="6B3BE5"/>
          </a:solidFill>
          <a:ln>
            <a:solidFill>
              <a:srgbClr val="6B3B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Kitchen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40480" y="5532120"/>
            <a:ext cx="1143000" cy="274320"/>
          </a:xfrm>
          <a:prstGeom prst="rect">
            <a:avLst/>
          </a:prstGeom>
          <a:solidFill>
            <a:srgbClr val="6B3BE5"/>
          </a:solidFill>
          <a:ln>
            <a:solidFill>
              <a:srgbClr val="6B3B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Payment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349240" y="5532120"/>
            <a:ext cx="1143000" cy="274320"/>
          </a:xfrm>
          <a:prstGeom prst="rect">
            <a:avLst/>
          </a:prstGeom>
          <a:solidFill>
            <a:srgbClr val="F9B233"/>
          </a:solidFill>
          <a:ln>
            <a:solidFill>
              <a:srgbClr val="F9B233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Inventory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0" y="5532120"/>
            <a:ext cx="1143000" cy="274320"/>
          </a:xfrm>
          <a:prstGeom prst="rect">
            <a:avLst/>
          </a:prstGeom>
          <a:solidFill>
            <a:srgbClr val="F9B233"/>
          </a:solidFill>
          <a:ln>
            <a:solidFill>
              <a:srgbClr val="F9B233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Purchasing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366760" y="5532120"/>
            <a:ext cx="1143000" cy="274320"/>
          </a:xfrm>
          <a:prstGeom prst="rect">
            <a:avLst/>
          </a:prstGeom>
          <a:solidFill>
            <a:srgbClr val="2FB344"/>
          </a:solidFill>
          <a:ln>
            <a:solidFill>
              <a:srgbClr val="2FB344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875520" y="5532120"/>
            <a:ext cx="1143000" cy="274320"/>
          </a:xfrm>
          <a:prstGeom prst="rect">
            <a:avLst/>
          </a:prstGeom>
          <a:solidFill>
            <a:srgbClr val="2FB344"/>
          </a:solidFill>
          <a:ln>
            <a:solidFill>
              <a:srgbClr val="2FB344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Owner dashboard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1: $899 + tax POS package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Make the first decision simple and concrete.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0" y="1143000"/>
            <a:ext cx="5166360" cy="256032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Odoo Restaurant POS screen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309360" y="1399032"/>
            <a:ext cx="5166360" cy="4636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554480"/>
            <a:ext cx="16532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B2E"/>
                </a:solidFill>
              </a:rPr>
              <a:t>Order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419088" y="1828800"/>
            <a:ext cx="1704899" cy="256032"/>
          </a:xfrm>
          <a:prstGeom prst="rect">
            <a:avLst/>
          </a:prstGeom>
          <a:solidFill>
            <a:srgbClr val="F7F4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31F20"/>
                </a:solidFill>
              </a:rPr>
              <a:t>Beef Noodle  $12.80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6419088" y="2176272"/>
            <a:ext cx="1704899" cy="256032"/>
          </a:xfrm>
          <a:prstGeom prst="rect">
            <a:avLst/>
          </a:prstGeom>
          <a:solidFill>
            <a:srgbClr val="F7F4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31F20"/>
                </a:solidFill>
              </a:rPr>
              <a:t>Dumplings   $8.50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6419088" y="2523744"/>
            <a:ext cx="1704899" cy="256032"/>
          </a:xfrm>
          <a:prstGeom prst="rect">
            <a:avLst/>
          </a:prstGeom>
          <a:solidFill>
            <a:srgbClr val="F7F4FF"/>
          </a:solidFill>
          <a:ln>
            <a:solidFill>
              <a:srgbClr val="E9D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31F20"/>
                </a:solidFill>
              </a:rPr>
              <a:t>Iced Tea    $3.00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6446520" y="5047488"/>
            <a:ext cx="1446581" cy="576072"/>
          </a:xfrm>
          <a:prstGeom prst="rect">
            <a:avLst/>
          </a:prstGeom>
          <a:solidFill>
            <a:srgbClr val="FFF9EF"/>
          </a:solidFill>
          <a:ln>
            <a:solidFill>
              <a:srgbClr val="FFD88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B3BE5"/>
                </a:solidFill>
              </a:rPr>
              <a:t>TOTAL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B3BE5"/>
                </a:solidFill>
              </a:rPr>
              <a:t>$24.30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30895" y="1581912"/>
            <a:ext cx="568300" cy="228600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Food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9202522" y="1581912"/>
            <a:ext cx="568300" cy="228600"/>
          </a:xfrm>
          <a:prstGeom prst="rect">
            <a:avLst/>
          </a:prstGeom>
          <a:solidFill>
            <a:srgbClr val="F9B233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Drink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9874148" y="1581912"/>
            <a:ext cx="568300" cy="228600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Dessert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45775" y="1581912"/>
            <a:ext cx="568300" cy="228600"/>
          </a:xfrm>
          <a:prstGeom prst="rect">
            <a:avLst/>
          </a:prstGeom>
          <a:solidFill>
            <a:srgbClr val="F9B233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Combo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530895" y="1929384"/>
            <a:ext cx="568300" cy="365760"/>
          </a:xfrm>
          <a:prstGeom prst="rect">
            <a:avLst/>
          </a:prstGeom>
          <a:solidFill>
            <a:srgbClr val="F8EFFF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Noodle</a:t>
            </a:r>
            <a:endParaRPr lang="en-US" sz="620" dirty="0"/>
          </a:p>
        </p:txBody>
      </p:sp>
      <p:sp>
        <p:nvSpPr>
          <p:cNvPr id="17" name="Text 15"/>
          <p:cNvSpPr/>
          <p:nvPr/>
        </p:nvSpPr>
        <p:spPr>
          <a:xfrm>
            <a:off x="9202522" y="1929384"/>
            <a:ext cx="568300" cy="365760"/>
          </a:xfrm>
          <a:prstGeom prst="rect">
            <a:avLst/>
          </a:prstGeom>
          <a:solidFill>
            <a:srgbClr val="FFF6D7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Burger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9874148" y="1929384"/>
            <a:ext cx="568300" cy="365760"/>
          </a:xfrm>
          <a:prstGeom prst="rect">
            <a:avLst/>
          </a:prstGeom>
          <a:solidFill>
            <a:srgbClr val="EEF7FF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Soup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10545775" y="1929384"/>
            <a:ext cx="568300" cy="365760"/>
          </a:xfrm>
          <a:prstGeom prst="rect">
            <a:avLst/>
          </a:prstGeom>
          <a:solidFill>
            <a:srgbClr val="EEFCEF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Tea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8530895" y="2459736"/>
            <a:ext cx="568300" cy="365760"/>
          </a:xfrm>
          <a:prstGeom prst="rect">
            <a:avLst/>
          </a:prstGeom>
          <a:solidFill>
            <a:srgbClr val="FFF6D7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Rice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9202522" y="2459736"/>
            <a:ext cx="568300" cy="365760"/>
          </a:xfrm>
          <a:prstGeom prst="rect">
            <a:avLst/>
          </a:prstGeom>
          <a:solidFill>
            <a:srgbClr val="EEF7FF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Fish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9874148" y="2459736"/>
            <a:ext cx="568300" cy="365760"/>
          </a:xfrm>
          <a:prstGeom prst="rect">
            <a:avLst/>
          </a:prstGeom>
          <a:solidFill>
            <a:srgbClr val="EEFCEF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Cake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10545775" y="2459736"/>
            <a:ext cx="568300" cy="365760"/>
          </a:xfrm>
          <a:prstGeom prst="rect">
            <a:avLst/>
          </a:prstGeom>
          <a:solidFill>
            <a:srgbClr val="F8EFFF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Soda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8530895" y="2990088"/>
            <a:ext cx="568300" cy="365760"/>
          </a:xfrm>
          <a:prstGeom prst="rect">
            <a:avLst/>
          </a:prstGeom>
          <a:solidFill>
            <a:srgbClr val="EEF7FF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Wings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9202522" y="2990088"/>
            <a:ext cx="568300" cy="365760"/>
          </a:xfrm>
          <a:prstGeom prst="rect">
            <a:avLst/>
          </a:prstGeom>
          <a:solidFill>
            <a:srgbClr val="EEFCEF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Salad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9874148" y="2990088"/>
            <a:ext cx="568300" cy="365760"/>
          </a:xfrm>
          <a:prstGeom prst="rect">
            <a:avLst/>
          </a:prstGeom>
          <a:solidFill>
            <a:srgbClr val="F8EFFF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Boba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10545775" y="2990088"/>
            <a:ext cx="568300" cy="365760"/>
          </a:xfrm>
          <a:prstGeom prst="rect">
            <a:avLst/>
          </a:prstGeom>
          <a:solidFill>
            <a:srgbClr val="FFF6D7"/>
          </a:solidFill>
          <a:ln>
            <a:solidFill>
              <a:srgbClr val="EFE6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231F20"/>
                </a:solidFill>
              </a:rPr>
              <a:t>Steak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777240" y="1371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3BE5"/>
                </a:solidFill>
              </a:rPr>
              <a:t>$899 + tax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2296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</a:rPr>
              <a:t>Front-end transaction infrastructure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1248" y="2788920"/>
            <a:ext cx="44805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Fast order entry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41248" y="3319272"/>
            <a:ext cx="44805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Menu categories and modifiers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1248" y="3849624"/>
            <a:ext cx="44805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Receipt / kitchen workflow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1248" y="4379976"/>
            <a:ext cx="44805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Payment-ready checkout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1248" y="4910328"/>
            <a:ext cx="44805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Simple training for staff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22960" y="5715000"/>
            <a:ext cx="4892040" cy="457200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Script: “The POS handles what happens at the counter.”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2: $7,500 Odoo ERP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The ERP connects transactions to the rest of the business.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3749040" cy="256032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Inventory + purchasing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90472"/>
            <a:ext cx="37490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37360"/>
            <a:ext cx="1049731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31F20"/>
                </a:solidFill>
              </a:rPr>
              <a:t>Chicken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343607" y="1783080"/>
            <a:ext cx="1612087" cy="100584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43607" y="1783080"/>
            <a:ext cx="599846" cy="100584"/>
          </a:xfrm>
          <a:prstGeom prst="rect">
            <a:avLst/>
          </a:prstGeom>
          <a:solidFill>
            <a:srgbClr val="2FB344"/>
          </a:solidFill>
          <a:ln w="12700">
            <a:solidFill>
              <a:srgbClr val="2FB3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48840"/>
            <a:ext cx="1049731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31F20"/>
                </a:solidFill>
              </a:rPr>
              <a:t>Rice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343607" y="2194560"/>
            <a:ext cx="1612087" cy="100584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3607" y="2194560"/>
            <a:ext cx="787298" cy="100584"/>
          </a:xfrm>
          <a:prstGeom prst="rect">
            <a:avLst/>
          </a:prstGeom>
          <a:solidFill>
            <a:srgbClr val="2FB344"/>
          </a:solidFill>
          <a:ln w="12700">
            <a:solidFill>
              <a:srgbClr val="2FB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560320"/>
            <a:ext cx="1049731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31F20"/>
                </a:solidFill>
              </a:rPr>
              <a:t>Oil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343607" y="2606040"/>
            <a:ext cx="1612087" cy="100584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3607" y="2606040"/>
            <a:ext cx="974750" cy="100584"/>
          </a:xfrm>
          <a:prstGeom prst="rect">
            <a:avLst/>
          </a:prstGeom>
          <a:solidFill>
            <a:srgbClr val="E84E4E"/>
          </a:solidFill>
          <a:ln w="12700">
            <a:solidFill>
              <a:srgbClr val="E84E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971800"/>
            <a:ext cx="1049731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31F20"/>
                </a:solidFill>
              </a:rPr>
              <a:t>Vegetables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2343607" y="3017520"/>
            <a:ext cx="1612087" cy="100584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607" y="3017520"/>
            <a:ext cx="1162202" cy="100584"/>
          </a:xfrm>
          <a:prstGeom prst="rect">
            <a:avLst/>
          </a:prstGeom>
          <a:solidFill>
            <a:srgbClr val="2FB344"/>
          </a:solidFill>
          <a:ln w="12700">
            <a:solidFill>
              <a:srgbClr val="2FB3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383280"/>
            <a:ext cx="1049731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31F20"/>
                </a:solidFill>
              </a:rPr>
              <a:t>Sauce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2343607" y="3429000"/>
            <a:ext cx="1612087" cy="100584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607" y="3429000"/>
            <a:ext cx="1349654" cy="100584"/>
          </a:xfrm>
          <a:prstGeom prst="rect">
            <a:avLst/>
          </a:prstGeom>
          <a:solidFill>
            <a:srgbClr val="2FB344"/>
          </a:solidFill>
          <a:ln w="12700">
            <a:solidFill>
              <a:srgbClr val="2FB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663440"/>
            <a:ext cx="3419856" cy="777240"/>
          </a:xfrm>
          <a:prstGeom prst="rect">
            <a:avLst/>
          </a:prstGeom>
          <a:solidFill>
            <a:srgbClr val="F8F7FF"/>
          </a:solidFill>
          <a:ln>
            <a:solidFill>
              <a:srgbClr val="E5D9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1B2E"/>
                </a:solidFill>
              </a:rPr>
              <a:t>Low-stock alerts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1B2E"/>
                </a:solidFill>
              </a:rPr>
              <a:t>Purchasing suggestions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1B2E"/>
                </a:solidFill>
              </a:rPr>
              <a:t>Variance tracking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572000" y="1234440"/>
            <a:ext cx="2743200" cy="256032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Owner dashboard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1490472"/>
            <a:ext cx="274320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BE5"/>
                </a:solidFill>
              </a:rPr>
              <a:t>$52,300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818888" y="2075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This week sales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892040" y="3154680"/>
            <a:ext cx="201168" cy="274320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76088" y="2990088"/>
            <a:ext cx="201168" cy="438912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0136" y="2825496"/>
            <a:ext cx="201168" cy="603504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4184" y="2660904"/>
            <a:ext cx="201168" cy="768096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8232" y="2496312"/>
            <a:ext cx="201168" cy="932688"/>
          </a:xfrm>
          <a:prstGeom prst="rect">
            <a:avLst/>
          </a:prstGeom>
          <a:solidFill>
            <a:srgbClr val="2FB3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2331720"/>
            <a:ext cx="201168" cy="1097280"/>
          </a:xfrm>
          <a:prstGeom prst="rect">
            <a:avLst/>
          </a:prstGeom>
          <a:solidFill>
            <a:srgbClr val="2FB3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1783080"/>
            <a:ext cx="768096" cy="1737360"/>
          </a:xfrm>
          <a:prstGeom prst="rect">
            <a:avLst/>
          </a:prstGeom>
          <a:solidFill>
            <a:srgbClr val="F7F4FF"/>
          </a:solidFill>
          <a:ln>
            <a:solidFill>
              <a:srgbClr val="E5D9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Food cost 28%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Labor 22%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Discounts $318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Voids $74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5029200"/>
            <a:ext cx="2286000" cy="320040"/>
          </a:xfrm>
          <a:prstGeom prst="rect">
            <a:avLst/>
          </a:prstGeom>
          <a:solidFill>
            <a:srgbClr val="FFF9EF"/>
          </a:solidFill>
          <a:ln>
            <a:solidFill>
              <a:srgbClr val="FFD88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31F20"/>
                </a:solidFill>
              </a:rPr>
              <a:t>Owner view: sales, labor, inventory, purchasing, finance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8458200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6B3BE5"/>
                </a:solidFill>
              </a:rPr>
              <a:t>$7,500</a:t>
            </a:r>
            <a:endParaRPr lang="en-US" sz="3900" dirty="0"/>
          </a:p>
        </p:txBody>
      </p:sp>
      <p:sp>
        <p:nvSpPr>
          <p:cNvPr id="36" name="Text 34"/>
          <p:cNvSpPr/>
          <p:nvPr/>
        </p:nvSpPr>
        <p:spPr>
          <a:xfrm>
            <a:off x="845820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</a:rPr>
              <a:t>Customized restaurant operating system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58200" y="2761488"/>
            <a:ext cx="30175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8E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</a:rPr>
              <a:t>Inventory + purchasing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458200" y="3191256"/>
            <a:ext cx="3017520" cy="292608"/>
          </a:xfrm>
          <a:prstGeom prst="rect">
            <a:avLst/>
          </a:prstGeom>
          <a:solidFill>
            <a:srgbClr val="F8F7FF"/>
          </a:solidFill>
          <a:ln>
            <a:solidFill>
              <a:srgbClr val="E8E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</a:rPr>
              <a:t>Vendor control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458200" y="3621024"/>
            <a:ext cx="30175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8E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</a:rPr>
              <a:t>Food-cost visibility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58200" y="4050792"/>
            <a:ext cx="3017520" cy="292608"/>
          </a:xfrm>
          <a:prstGeom prst="rect">
            <a:avLst/>
          </a:prstGeom>
          <a:solidFill>
            <a:srgbClr val="F8F7FF"/>
          </a:solidFill>
          <a:ln>
            <a:solidFill>
              <a:srgbClr val="E8E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</a:rPr>
              <a:t>User permissions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458200" y="4480560"/>
            <a:ext cx="30175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E8E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</a:rPr>
              <a:t>Reporting dashboards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458200" y="4910328"/>
            <a:ext cx="3017520" cy="292608"/>
          </a:xfrm>
          <a:prstGeom prst="rect">
            <a:avLst/>
          </a:prstGeom>
          <a:solidFill>
            <a:srgbClr val="F8F7FF"/>
          </a:solidFill>
          <a:ln>
            <a:solidFill>
              <a:srgbClr val="E8E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</a:rPr>
              <a:t>Training + testing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5897880"/>
            <a:ext cx="10241280" cy="411480"/>
          </a:xfrm>
          <a:prstGeom prst="rect">
            <a:avLst/>
          </a:prstGeom>
          <a:solidFill>
            <a:srgbClr val="1E1B2E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Script: “The ERP handles what happens to the business because of those transactions.”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Leverage signals: read changes, not single gestures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Body language is a clue. Ask, don’t assume.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3840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</a:rPr>
              <a:t>Leans toward screen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92040" y="1371600"/>
            <a:ext cx="5669280" cy="393192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Feature may solve real pain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840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</a:rPr>
              <a:t>Asks “Can I see this from home?”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2040" y="2057400"/>
            <a:ext cx="5669280" cy="393192"/>
          </a:xfrm>
          <a:prstGeom prst="rect">
            <a:avLst/>
          </a:prstGeom>
          <a:solidFill>
            <a:srgbClr val="FFF9E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Remote control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840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</a:rPr>
              <a:t>Asks about training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2743200"/>
            <a:ext cx="5669280" cy="393192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Adoption risk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840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</a:rPr>
              <a:t>Looks to partner/manager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3429000"/>
            <a:ext cx="5669280" cy="393192"/>
          </a:xfrm>
          <a:prstGeom prst="rect">
            <a:avLst/>
          </a:prstGeom>
          <a:solidFill>
            <a:srgbClr val="FFF9E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Hidden decision maker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3840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</a:rPr>
              <a:t>Repeats price question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4114800"/>
            <a:ext cx="5669280" cy="393192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31F20"/>
                </a:solidFill>
              </a:rPr>
              <a:t>Value or budget not resolved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5285232"/>
            <a:ext cx="9966960" cy="640080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Use: “I noticed you spent more time on the inventory section. Is inventory control a major issue here?”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Objection handling: diagnose the objection before answering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Separate budget, value, risk, and decision-maker issues.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3657600" cy="475488"/>
          </a:xfrm>
          <a:prstGeom prst="rect">
            <a:avLst/>
          </a:prstGeom>
          <a:solidFill>
            <a:srgbClr val="FFF3F3"/>
          </a:solidFill>
          <a:ln>
            <a:solidFill>
              <a:srgbClr val="F5B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84E4E"/>
                </a:solidFill>
              </a:rPr>
              <a:t>“$7,500 is too expensive.”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709160" y="1325880"/>
            <a:ext cx="6446520" cy="475488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E1B2E"/>
                </a:solidFill>
              </a:rPr>
              <a:t>“Do you mean cash flow is difficult, or you are not yet convinced it creates $7,500 of value?”</a:t>
            </a:r>
            <a:endParaRPr lang="en-US" sz="133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657600" cy="475488"/>
          </a:xfrm>
          <a:prstGeom prst="rect">
            <a:avLst/>
          </a:prstGeom>
          <a:solidFill>
            <a:srgbClr val="FFF3F3"/>
          </a:solidFill>
          <a:ln>
            <a:solidFill>
              <a:srgbClr val="F5B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84E4E"/>
                </a:solidFill>
              </a:rPr>
              <a:t>“I already have Square / Toast / Clover.”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09160" y="2377440"/>
            <a:ext cx="6446520" cy="475488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E1B2E"/>
                </a:solidFill>
              </a:rPr>
              <a:t>“Then I would not replace it just because ours is different. What can’t you do with your current system?”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657600" cy="475488"/>
          </a:xfrm>
          <a:prstGeom prst="rect">
            <a:avLst/>
          </a:prstGeom>
          <a:solidFill>
            <a:srgbClr val="FFF3F3"/>
          </a:solidFill>
          <a:ln>
            <a:solidFill>
              <a:srgbClr val="F5B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84E4E"/>
                </a:solidFill>
              </a:rPr>
              <a:t>“I need to think about it.”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3429000"/>
            <a:ext cx="6446520" cy="475488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E1B2E"/>
                </a:solidFill>
              </a:rPr>
              <a:t>“Of course. What specifically would you like to think through?”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3657600" cy="475488"/>
          </a:xfrm>
          <a:prstGeom prst="rect">
            <a:avLst/>
          </a:prstGeom>
          <a:solidFill>
            <a:srgbClr val="FFF3F3"/>
          </a:solidFill>
          <a:ln>
            <a:solidFill>
              <a:srgbClr val="F5B5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84E4E"/>
                </a:solidFill>
              </a:rPr>
              <a:t>“I need to talk to my partner.”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09160" y="4480560"/>
            <a:ext cx="6446520" cy="475488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E1B2E"/>
                </a:solidFill>
              </a:rPr>
              <a:t>“What do you think your partner’s biggest concern will be?”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868680" y="5897880"/>
            <a:ext cx="9875520" cy="411480"/>
          </a:xfrm>
          <a:prstGeom prst="rect">
            <a:avLst/>
          </a:prstGeom>
          <a:solidFill>
            <a:srgbClr val="1E1B2E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 not discount before you know which problem you are solving.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psychology: anchor against the cost of doing nothing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Use the owner’s leakage estimate to create financial context.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</a:rPr>
              <a:t>Current leakage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E4E"/>
                </a:solidFill>
              </a:rPr>
              <a:t>$41,400 / year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3796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</a:rPr>
              <a:t>Investment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3BE5"/>
                </a:solidFill>
              </a:rPr>
              <a:t>$8,399 total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83480" y="2176272"/>
            <a:ext cx="10972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60120" y="3337560"/>
            <a:ext cx="100126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1B2E"/>
                </a:solidFill>
              </a:rPr>
              <a:t>Say: “I would not compare $7,500 with spending nothing. I would compare it with what the current process is already costing the restaurant.”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5212080"/>
            <a:ext cx="9875520" cy="502920"/>
          </a:xfrm>
          <a:prstGeom prst="rect">
            <a:avLst/>
          </a:prstGeom>
          <a:solidFill>
            <a:srgbClr val="1E1B2E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Never promise full savings unless you can prove it. Keep the claim defensible.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sequence: move from “buying” to “starting”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Ask for blockers, then move to implementation details.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0607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1B2E"/>
                </a:solidFill>
              </a:rPr>
              <a:t>“Based on what we went through, is there anything important that would prevent you from moving forward?”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2926080" cy="457200"/>
          </a:xfrm>
          <a:prstGeom prst="rect">
            <a:avLst/>
          </a:prstGeom>
          <a:solidFill>
            <a:srgbClr val="FFF3F3"/>
          </a:solidFill>
          <a:ln>
            <a:solidFill>
              <a:srgbClr val="F6B9B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4E4E"/>
                </a:solidFill>
              </a:rPr>
              <a:t>Then stop talking.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</a:rPr>
              <a:t>If no blocker appears: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30752"/>
            <a:ext cx="5669280" cy="502920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“Then let’s get the POS ordered and start the ERP discovery process.”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416552"/>
            <a:ext cx="5669280" cy="502920"/>
          </a:xfrm>
          <a:prstGeom prst="rect">
            <a:avLst/>
          </a:prstGeom>
          <a:solidFill>
            <a:srgbClr val="FFF9EF"/>
          </a:solidFill>
          <a:ln>
            <a:solidFill>
              <a:srgbClr val="FFE5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</a:rPr>
              <a:t>“Who should be the primary contact for menu data and restaurant operations?”</a:t>
            </a:r>
            <a:endParaRPr lang="en-US" sz="1600" dirty="0"/>
          </a:p>
        </p:txBody>
      </p:sp>
      <p:pic>
        <p:nvPicPr>
          <p:cNvPr id="10" name="Image 0" descr="/mnt/data/wide_cinematic_warm_lit_cartoon_3d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926080"/>
            <a:ext cx="4023360" cy="2971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Post-agreement roadmap: prevent buyer’s remorse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Show exactly what happens after the owner says yes.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1143000" cy="685800"/>
          </a:xfrm>
          <a:prstGeom prst="chevron">
            <a:avLst/>
          </a:prstGeom>
          <a:solidFill>
            <a:srgbClr val="6B3B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311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1B2E"/>
                </a:solidFill>
              </a:rPr>
              <a:t>Payment / deposit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103120" y="2057400"/>
            <a:ext cx="1143000" cy="685800"/>
          </a:xfrm>
          <a:prstGeom prst="chevron">
            <a:avLst/>
          </a:prstGeom>
          <a:solidFill>
            <a:srgbClr val="6B3B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2311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852928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1B2E"/>
                </a:solidFill>
              </a:rPr>
              <a:t>Menu + SKU import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520440" y="2057400"/>
            <a:ext cx="1143000" cy="685800"/>
          </a:xfrm>
          <a:prstGeom prst="chevron">
            <a:avLst/>
          </a:prstGeom>
          <a:solidFill>
            <a:srgbClr val="F9B2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2311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852928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1B2E"/>
                </a:solidFill>
              </a:rPr>
              <a:t>Workflow discovery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937760" y="2057400"/>
            <a:ext cx="1143000" cy="685800"/>
          </a:xfrm>
          <a:prstGeom prst="chevron">
            <a:avLst/>
          </a:prstGeom>
          <a:solidFill>
            <a:srgbClr val="F9B2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2311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2852928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1B2E"/>
                </a:solidFill>
              </a:rPr>
              <a:t>Configuration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355080" y="2057400"/>
            <a:ext cx="1143000" cy="685800"/>
          </a:xfrm>
          <a:prstGeom prst="chevron">
            <a:avLst/>
          </a:prstGeom>
          <a:solidFill>
            <a:srgbClr val="F9B2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2311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852928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1B2E"/>
                </a:solidFill>
              </a:rPr>
              <a:t>Testing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72400" y="2057400"/>
            <a:ext cx="1143000" cy="685800"/>
          </a:xfrm>
          <a:prstGeom prst="chevron">
            <a:avLst/>
          </a:prstGeom>
          <a:solidFill>
            <a:srgbClr val="2FB3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22311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09560" y="2852928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1B2E"/>
                </a:solidFill>
              </a:rPr>
              <a:t>Staff training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9189720" y="2057400"/>
            <a:ext cx="1143000" cy="685800"/>
          </a:xfrm>
          <a:prstGeom prst="chevron">
            <a:avLst/>
          </a:prstGeom>
          <a:solidFill>
            <a:srgbClr val="2FB3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22311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0" y="2852928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1B2E"/>
                </a:solidFill>
              </a:rPr>
              <a:t>Go-live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10607040" y="2057400"/>
            <a:ext cx="1143000" cy="685800"/>
          </a:xfrm>
          <a:prstGeom prst="chevron">
            <a:avLst/>
          </a:prstGeom>
          <a:solidFill>
            <a:srgbClr val="2FB3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44200" y="22311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44200" y="2852928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1B2E"/>
                </a:solidFill>
              </a:rPr>
              <a:t>Post-launch review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960120" y="4709160"/>
            <a:ext cx="10149840" cy="822960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Reinforce their own reasons: “We will keep coming back to the three goals you identified: inventory control, management visibility, and reducing administrative work.”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Leave-behind summary for the owner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This turns the presentation into a practical business assessment, not a sales visit.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234440"/>
            <a:ext cx="3977640" cy="256032"/>
          </a:xfrm>
          <a:prstGeom prst="rect">
            <a:avLst/>
          </a:prstGeom>
          <a:solidFill>
            <a:srgbClr val="6B3BE5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Owner dashboard preview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0" y="1490472"/>
            <a:ext cx="3977640" cy="4178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BE5"/>
                </a:solidFill>
              </a:rPr>
              <a:t>$52,300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62088" y="2075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This week sales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7635240" y="3154680"/>
            <a:ext cx="201168" cy="274320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9288" y="2990088"/>
            <a:ext cx="201168" cy="438912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3336" y="2825496"/>
            <a:ext cx="201168" cy="603504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87384" y="2660904"/>
            <a:ext cx="201168" cy="768096"/>
          </a:xfrm>
          <a:prstGeom prst="rect">
            <a:avLst/>
          </a:prstGeom>
          <a:solidFill>
            <a:srgbClr val="BBA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1432" y="2496312"/>
            <a:ext cx="201168" cy="932688"/>
          </a:xfrm>
          <a:prstGeom prst="rect">
            <a:avLst/>
          </a:prstGeom>
          <a:solidFill>
            <a:srgbClr val="2FB3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2331720"/>
            <a:ext cx="201168" cy="1097280"/>
          </a:xfrm>
          <a:prstGeom prst="rect">
            <a:avLst/>
          </a:prstGeom>
          <a:solidFill>
            <a:srgbClr val="2FB3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40442" y="1783080"/>
            <a:ext cx="1113739" cy="1737360"/>
          </a:xfrm>
          <a:prstGeom prst="rect">
            <a:avLst/>
          </a:prstGeom>
          <a:solidFill>
            <a:srgbClr val="F7F4FF"/>
          </a:solidFill>
          <a:ln>
            <a:solidFill>
              <a:srgbClr val="E5D9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Food cost 28%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Labor 22%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Discounts $318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1F20"/>
                </a:solidFill>
              </a:rPr>
              <a:t>Voids $74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543800" y="4983480"/>
            <a:ext cx="3520440" cy="320040"/>
          </a:xfrm>
          <a:prstGeom prst="rect">
            <a:avLst/>
          </a:prstGeom>
          <a:solidFill>
            <a:srgbClr val="FFF9EF"/>
          </a:solidFill>
          <a:ln>
            <a:solidFill>
              <a:srgbClr val="FFD88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31F20"/>
                </a:solidFill>
              </a:rPr>
              <a:t>Owner view: sales, labor, inventory, purchasing, finance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22960" y="1371600"/>
            <a:ext cx="5486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</a:rPr>
              <a:t>Top 3 pain points identified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2029968"/>
            <a:ext cx="5486400" cy="384048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</a:rPr>
              <a:t>Estimated monthly leakage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2688336"/>
            <a:ext cx="5486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</a:rPr>
              <a:t>POS hardware included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3346704"/>
            <a:ext cx="5486400" cy="384048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</a:rPr>
              <a:t>ERP implementation scope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4005072"/>
            <a:ext cx="54864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</a:rPr>
              <a:t>Timeline and next steps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4663440"/>
            <a:ext cx="5486400" cy="384048"/>
          </a:xfrm>
          <a:prstGeom prst="rect">
            <a:avLst/>
          </a:prstGeom>
          <a:solidFill>
            <a:srgbClr val="F7F4FF"/>
          </a:solidFill>
          <a:ln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31F20"/>
                </a:solidFill>
              </a:rPr>
              <a:t>Decision makers and project contact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5715000"/>
            <a:ext cx="5577840" cy="457200"/>
          </a:xfrm>
          <a:prstGeom prst="rect">
            <a:avLst/>
          </a:prstGeom>
          <a:solidFill>
            <a:srgbClr val="1E1B2E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Whether they buy today or not, give them something useful.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ozy_warm_cinematic_3d_cgi_pixar_style_anim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58368"/>
            <a:ext cx="1554480" cy="274320"/>
          </a:xfrm>
          <a:prstGeom prst="rect">
            <a:avLst/>
          </a:prstGeom>
          <a:solidFill>
            <a:srgbClr val="F9B233"/>
          </a:solidFill>
          <a:ln>
            <a:solidFill>
              <a:srgbClr val="F9B233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MEMORIZE THIS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658368" y="114300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Don’t sell the POS.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Diagnose the restaurant.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713232" y="27889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8F4FF"/>
                </a:solidFill>
              </a:rPr>
              <a:t>When the owner sees the current process is already costing money every month, the POS + ERP becomes a business-control investment — not another tech expense.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13232" y="5696712"/>
            <a:ext cx="62179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E1B2E"/>
                </a:solidFill>
              </a:rPr>
              <a:t>Next action: schedule discovery → confirm scope → collect deposit → start POS + ERP setup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19F"/>
                </a:solidFill>
              </a:rPr>
              <a:t>Yudaro.com  •  Restaurant POS + Odoo ERP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819F"/>
                </a:solidFill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Yudaro.com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POS + Odoo ERP: Sales Engineer Negotiation Framework</dc:title>
  <dc:subject>Restaurant POS + Odoo ERP Negotiation Presentation</dc:subject>
  <dc:creator>Yudaro</dc:creator>
  <cp:lastModifiedBy>Yudaro</cp:lastModifiedBy>
  <cp:revision>1</cp:revision>
  <dcterms:created xsi:type="dcterms:W3CDTF">2026-09-25T23:24:29Z</dcterms:created>
  <dcterms:modified xsi:type="dcterms:W3CDTF">2026-09-25T23:24:29Z</dcterms:modified>
</cp:coreProperties>
</file>